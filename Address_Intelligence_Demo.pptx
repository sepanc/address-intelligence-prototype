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AD0"/>
    <a:srgbClr val="4DA72E"/>
    <a:srgbClr val="289D8F"/>
    <a:srgbClr val="F4A3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0"/>
    <p:restoredTop sz="94638"/>
  </p:normalViewPr>
  <p:slideViewPr>
    <p:cSldViewPr snapToGrid="0">
      <p:cViewPr varScale="1">
        <p:scale>
          <a:sx n="118" d="100"/>
          <a:sy n="118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00994D-4302-4D4E-ABE2-F8A64C3937CE}" type="doc">
      <dgm:prSet loTypeId="urn:microsoft.com/office/officeart/2005/8/layout/process1" loCatId="" qsTypeId="urn:microsoft.com/office/officeart/2005/8/quickstyle/3d2" qsCatId="3D" csTypeId="urn:microsoft.com/office/officeart/2005/8/colors/accent1_2" csCatId="accent1" phldr="1"/>
      <dgm:spPr/>
    </dgm:pt>
    <dgm:pt modelId="{241C9FE6-564F-3942-8519-384CF7187D49}">
      <dgm:prSet phldrT="[Text]" custT="1"/>
      <dgm:spPr>
        <a:solidFill>
          <a:schemeClr val="bg2"/>
        </a:solidFill>
      </dgm:spPr>
      <dgm:t>
        <a:bodyPr/>
        <a:lstStyle/>
        <a:p>
          <a:r>
            <a:rPr lang="en-US" sz="1400" b="1" dirty="0">
              <a:ln>
                <a:noFill/>
              </a:ln>
              <a:solidFill>
                <a:schemeClr val="tx1"/>
              </a:solidFill>
            </a:rPr>
            <a:t>Raw Address</a:t>
          </a:r>
        </a:p>
        <a:p>
          <a:r>
            <a:rPr lang="en-US" sz="1400" b="0" i="1" dirty="0">
              <a:ln>
                <a:noFill/>
              </a:ln>
              <a:solidFill>
                <a:schemeClr val="tx1"/>
              </a:solidFill>
            </a:rPr>
            <a:t>Unverified</a:t>
          </a:r>
        </a:p>
      </dgm:t>
    </dgm:pt>
    <dgm:pt modelId="{42172117-5021-934E-8372-AF838483424A}" type="parTrans" cxnId="{BD43C306-9A29-D447-A130-DCEF26033805}">
      <dgm:prSet/>
      <dgm:spPr/>
      <dgm:t>
        <a:bodyPr/>
        <a:lstStyle/>
        <a:p>
          <a:endParaRPr lang="en-US"/>
        </a:p>
      </dgm:t>
    </dgm:pt>
    <dgm:pt modelId="{0BC67F1D-9EA0-F44C-A778-F48D84297D1A}" type="sibTrans" cxnId="{BD43C306-9A29-D447-A130-DCEF26033805}">
      <dgm:prSet/>
      <dgm:spPr/>
      <dgm:t>
        <a:bodyPr/>
        <a:lstStyle/>
        <a:p>
          <a:endParaRPr lang="en-US"/>
        </a:p>
      </dgm:t>
    </dgm:pt>
    <dgm:pt modelId="{85BB3533-6ED9-B941-8E1B-B01D97593B8F}">
      <dgm:prSet phldrT="[Text]"/>
      <dgm:spPr>
        <a:solidFill>
          <a:schemeClr val="tx2">
            <a:lumMod val="90000"/>
            <a:lumOff val="10000"/>
          </a:schemeClr>
        </a:solidFill>
      </dgm:spPr>
      <dgm:t>
        <a:bodyPr/>
        <a:lstStyle/>
        <a:p>
          <a:r>
            <a:rPr lang="en-US" b="1" dirty="0"/>
            <a:t>Verify</a:t>
          </a:r>
        </a:p>
        <a:p>
          <a:r>
            <a:rPr lang="en-US" b="0" i="1" dirty="0"/>
            <a:t>Standardize</a:t>
          </a:r>
        </a:p>
      </dgm:t>
    </dgm:pt>
    <dgm:pt modelId="{0B323175-E639-CF48-9D06-150C96609C5A}" type="parTrans" cxnId="{76C8187E-9A89-FF49-9C97-F072E7DB6440}">
      <dgm:prSet/>
      <dgm:spPr/>
      <dgm:t>
        <a:bodyPr/>
        <a:lstStyle/>
        <a:p>
          <a:endParaRPr lang="en-US"/>
        </a:p>
      </dgm:t>
    </dgm:pt>
    <dgm:pt modelId="{8D597BEB-AB36-FD49-9490-9668947C4AB9}" type="sibTrans" cxnId="{76C8187E-9A89-FF49-9C97-F072E7DB6440}">
      <dgm:prSet/>
      <dgm:spPr/>
      <dgm:t>
        <a:bodyPr/>
        <a:lstStyle/>
        <a:p>
          <a:endParaRPr lang="en-US"/>
        </a:p>
      </dgm:t>
    </dgm:pt>
    <dgm:pt modelId="{E155C3AA-76E9-A64D-A744-7411D529A27C}">
      <dgm:prSet phldrT="[Text]"/>
      <dgm:spPr/>
      <dgm:t>
        <a:bodyPr/>
        <a:lstStyle/>
        <a:p>
          <a:r>
            <a:rPr lang="en-US" b="1" dirty="0"/>
            <a:t>Geocode</a:t>
          </a:r>
        </a:p>
        <a:p>
          <a:r>
            <a:rPr lang="en-US" b="0" i="1" dirty="0"/>
            <a:t>Building Level- Precisely ID</a:t>
          </a:r>
        </a:p>
      </dgm:t>
    </dgm:pt>
    <dgm:pt modelId="{C709DAF3-6A10-494F-83F5-6B1790C9521A}" type="parTrans" cxnId="{C0D7E5AF-A6F7-1A41-821B-8110F0446DB7}">
      <dgm:prSet/>
      <dgm:spPr/>
      <dgm:t>
        <a:bodyPr/>
        <a:lstStyle/>
        <a:p>
          <a:endParaRPr lang="en-US"/>
        </a:p>
      </dgm:t>
    </dgm:pt>
    <dgm:pt modelId="{8464685A-7125-BF49-8EF1-67187A902FA0}" type="sibTrans" cxnId="{C0D7E5AF-A6F7-1A41-821B-8110F0446DB7}">
      <dgm:prSet/>
      <dgm:spPr/>
      <dgm:t>
        <a:bodyPr/>
        <a:lstStyle/>
        <a:p>
          <a:endParaRPr lang="en-US"/>
        </a:p>
      </dgm:t>
    </dgm:pt>
    <dgm:pt modelId="{E8819318-CB88-0641-BD23-CEAE1927EAB8}">
      <dgm:prSet/>
      <dgm:spPr/>
      <dgm:t>
        <a:bodyPr/>
        <a:lstStyle/>
        <a:p>
          <a:r>
            <a:rPr lang="en-US" b="1" dirty="0"/>
            <a:t>Enrich</a:t>
          </a:r>
        </a:p>
        <a:p>
          <a:r>
            <a:rPr lang="en-US" b="0" i="1" dirty="0"/>
            <a:t>Flood-Fire-Demographics</a:t>
          </a:r>
        </a:p>
      </dgm:t>
    </dgm:pt>
    <dgm:pt modelId="{63974EE1-E132-E945-9C7B-35CCE8C1931B}" type="parTrans" cxnId="{5A262EA6-A2C0-2D4B-8356-81C3A3F3DC2C}">
      <dgm:prSet/>
      <dgm:spPr/>
      <dgm:t>
        <a:bodyPr/>
        <a:lstStyle/>
        <a:p>
          <a:endParaRPr lang="en-US"/>
        </a:p>
      </dgm:t>
    </dgm:pt>
    <dgm:pt modelId="{79974519-4BA1-E048-B5F0-43477E140032}" type="sibTrans" cxnId="{5A262EA6-A2C0-2D4B-8356-81C3A3F3DC2C}">
      <dgm:prSet/>
      <dgm:spPr/>
      <dgm:t>
        <a:bodyPr/>
        <a:lstStyle/>
        <a:p>
          <a:endParaRPr lang="en-US"/>
        </a:p>
      </dgm:t>
    </dgm:pt>
    <dgm:pt modelId="{82B8DC67-F2C5-1143-B1D1-B80F4D3FFDBA}">
      <dgm:prSet/>
      <dgm:spPr/>
      <dgm:t>
        <a:bodyPr/>
        <a:lstStyle/>
        <a:p>
          <a:r>
            <a:rPr lang="en-US" b="1" dirty="0"/>
            <a:t>AI Assess</a:t>
          </a:r>
        </a:p>
        <a:p>
          <a:r>
            <a:rPr lang="en-US" b="0" i="1" dirty="0"/>
            <a:t>LLM Narrative – Risk Score</a:t>
          </a:r>
        </a:p>
      </dgm:t>
    </dgm:pt>
    <dgm:pt modelId="{766376E6-3F33-CE49-9211-C06C56DA7977}" type="parTrans" cxnId="{E51F6270-7DC7-E343-9EC8-E4491F480493}">
      <dgm:prSet/>
      <dgm:spPr/>
      <dgm:t>
        <a:bodyPr/>
        <a:lstStyle/>
        <a:p>
          <a:endParaRPr lang="en-US"/>
        </a:p>
      </dgm:t>
    </dgm:pt>
    <dgm:pt modelId="{D4711626-5E0D-234A-AE42-03828898529A}" type="sibTrans" cxnId="{E51F6270-7DC7-E343-9EC8-E4491F480493}">
      <dgm:prSet/>
      <dgm:spPr/>
      <dgm:t>
        <a:bodyPr/>
        <a:lstStyle/>
        <a:p>
          <a:endParaRPr lang="en-US"/>
        </a:p>
      </dgm:t>
    </dgm:pt>
    <dgm:pt modelId="{9EABAF29-1596-0C45-9BA6-D6E2D1B554EC}">
      <dgm:prSet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b="1" dirty="0"/>
            <a:t>Decision-Ready</a:t>
          </a:r>
        </a:p>
        <a:p>
          <a:r>
            <a:rPr lang="en-US" i="1" dirty="0"/>
            <a:t>Trusted - Actionable</a:t>
          </a:r>
        </a:p>
      </dgm:t>
    </dgm:pt>
    <dgm:pt modelId="{469B779D-355E-574C-B308-2B689830C66E}" type="parTrans" cxnId="{7DC7220F-970A-5741-BA4E-6C168B1D14AB}">
      <dgm:prSet/>
      <dgm:spPr/>
      <dgm:t>
        <a:bodyPr/>
        <a:lstStyle/>
        <a:p>
          <a:endParaRPr lang="en-US"/>
        </a:p>
      </dgm:t>
    </dgm:pt>
    <dgm:pt modelId="{FECE6F66-0623-A54C-AA74-15A4BD70DE3C}" type="sibTrans" cxnId="{7DC7220F-970A-5741-BA4E-6C168B1D14AB}">
      <dgm:prSet/>
      <dgm:spPr/>
      <dgm:t>
        <a:bodyPr/>
        <a:lstStyle/>
        <a:p>
          <a:endParaRPr lang="en-US"/>
        </a:p>
      </dgm:t>
    </dgm:pt>
    <dgm:pt modelId="{D3D5BE7A-22F9-F842-8FF6-CF481B263499}" type="pres">
      <dgm:prSet presAssocID="{0F00994D-4302-4D4E-ABE2-F8A64C3937CE}" presName="Name0" presStyleCnt="0">
        <dgm:presLayoutVars>
          <dgm:dir/>
          <dgm:resizeHandles val="exact"/>
        </dgm:presLayoutVars>
      </dgm:prSet>
      <dgm:spPr/>
    </dgm:pt>
    <dgm:pt modelId="{DB02FAE8-43E6-724B-9259-CF4DB4C32FC0}" type="pres">
      <dgm:prSet presAssocID="{241C9FE6-564F-3942-8519-384CF7187D49}" presName="node" presStyleLbl="node1" presStyleIdx="0" presStyleCnt="6" custLinFactNeighborX="-14248" custLinFactNeighborY="-520">
        <dgm:presLayoutVars>
          <dgm:bulletEnabled val="1"/>
        </dgm:presLayoutVars>
      </dgm:prSet>
      <dgm:spPr/>
    </dgm:pt>
    <dgm:pt modelId="{07F51653-CB36-BD4C-8021-75E73E09068C}" type="pres">
      <dgm:prSet presAssocID="{0BC67F1D-9EA0-F44C-A778-F48D84297D1A}" presName="sibTrans" presStyleLbl="sibTrans2D1" presStyleIdx="0" presStyleCnt="5"/>
      <dgm:spPr/>
    </dgm:pt>
    <dgm:pt modelId="{09F3BCF6-9022-E84B-9C57-1FF84B48D23C}" type="pres">
      <dgm:prSet presAssocID="{0BC67F1D-9EA0-F44C-A778-F48D84297D1A}" presName="connectorText" presStyleLbl="sibTrans2D1" presStyleIdx="0" presStyleCnt="5"/>
      <dgm:spPr/>
    </dgm:pt>
    <dgm:pt modelId="{268264E7-E482-D84E-92A0-F61DA88E708C}" type="pres">
      <dgm:prSet presAssocID="{85BB3533-6ED9-B941-8E1B-B01D97593B8F}" presName="node" presStyleLbl="node1" presStyleIdx="1" presStyleCnt="6">
        <dgm:presLayoutVars>
          <dgm:bulletEnabled val="1"/>
        </dgm:presLayoutVars>
      </dgm:prSet>
      <dgm:spPr/>
    </dgm:pt>
    <dgm:pt modelId="{48C28B87-B340-EE4F-BDFE-EB9A5FFCB513}" type="pres">
      <dgm:prSet presAssocID="{8D597BEB-AB36-FD49-9490-9668947C4AB9}" presName="sibTrans" presStyleLbl="sibTrans2D1" presStyleIdx="1" presStyleCnt="5"/>
      <dgm:spPr/>
    </dgm:pt>
    <dgm:pt modelId="{F66FB34B-23AC-D749-8288-23D6C8079BB2}" type="pres">
      <dgm:prSet presAssocID="{8D597BEB-AB36-FD49-9490-9668947C4AB9}" presName="connectorText" presStyleLbl="sibTrans2D1" presStyleIdx="1" presStyleCnt="5"/>
      <dgm:spPr/>
    </dgm:pt>
    <dgm:pt modelId="{ADDD10ED-4755-C243-A1C6-08BB192A8100}" type="pres">
      <dgm:prSet presAssocID="{E155C3AA-76E9-A64D-A744-7411D529A27C}" presName="node" presStyleLbl="node1" presStyleIdx="2" presStyleCnt="6" custScaleX="180500">
        <dgm:presLayoutVars>
          <dgm:bulletEnabled val="1"/>
        </dgm:presLayoutVars>
      </dgm:prSet>
      <dgm:spPr/>
    </dgm:pt>
    <dgm:pt modelId="{1589C212-7EA9-8D46-A2B8-3CD0659FF975}" type="pres">
      <dgm:prSet presAssocID="{8464685A-7125-BF49-8EF1-67187A902FA0}" presName="sibTrans" presStyleLbl="sibTrans2D1" presStyleIdx="2" presStyleCnt="5"/>
      <dgm:spPr/>
    </dgm:pt>
    <dgm:pt modelId="{ABDAA4BF-E9B5-8F46-8558-A805D8BA155E}" type="pres">
      <dgm:prSet presAssocID="{8464685A-7125-BF49-8EF1-67187A902FA0}" presName="connectorText" presStyleLbl="sibTrans2D1" presStyleIdx="2" presStyleCnt="5"/>
      <dgm:spPr/>
    </dgm:pt>
    <dgm:pt modelId="{00CF6F94-CEE9-1946-9714-50FCA73B4697}" type="pres">
      <dgm:prSet presAssocID="{E8819318-CB88-0641-BD23-CEAE1927EAB8}" presName="node" presStyleLbl="node1" presStyleIdx="3" presStyleCnt="6" custScaleX="146119">
        <dgm:presLayoutVars>
          <dgm:bulletEnabled val="1"/>
        </dgm:presLayoutVars>
      </dgm:prSet>
      <dgm:spPr/>
    </dgm:pt>
    <dgm:pt modelId="{0033FC61-7392-7048-9698-04728B072225}" type="pres">
      <dgm:prSet presAssocID="{79974519-4BA1-E048-B5F0-43477E140032}" presName="sibTrans" presStyleLbl="sibTrans2D1" presStyleIdx="3" presStyleCnt="5"/>
      <dgm:spPr/>
    </dgm:pt>
    <dgm:pt modelId="{6433A1EB-DF89-4846-8089-557320555111}" type="pres">
      <dgm:prSet presAssocID="{79974519-4BA1-E048-B5F0-43477E140032}" presName="connectorText" presStyleLbl="sibTrans2D1" presStyleIdx="3" presStyleCnt="5"/>
      <dgm:spPr/>
    </dgm:pt>
    <dgm:pt modelId="{3E615D44-9747-7D48-A1ED-56011F2634D2}" type="pres">
      <dgm:prSet presAssocID="{82B8DC67-F2C5-1143-B1D1-B80F4D3FFDBA}" presName="node" presStyleLbl="node1" presStyleIdx="4" presStyleCnt="6" custScaleX="144852">
        <dgm:presLayoutVars>
          <dgm:bulletEnabled val="1"/>
        </dgm:presLayoutVars>
      </dgm:prSet>
      <dgm:spPr/>
    </dgm:pt>
    <dgm:pt modelId="{3BF8A704-C7A6-C747-8DF8-E555D847FE44}" type="pres">
      <dgm:prSet presAssocID="{D4711626-5E0D-234A-AE42-03828898529A}" presName="sibTrans" presStyleLbl="sibTrans2D1" presStyleIdx="4" presStyleCnt="5"/>
      <dgm:spPr/>
    </dgm:pt>
    <dgm:pt modelId="{DB58FE24-385D-5D46-B206-0A275B271AD4}" type="pres">
      <dgm:prSet presAssocID="{D4711626-5E0D-234A-AE42-03828898529A}" presName="connectorText" presStyleLbl="sibTrans2D1" presStyleIdx="4" presStyleCnt="5"/>
      <dgm:spPr/>
    </dgm:pt>
    <dgm:pt modelId="{62499126-221A-CF4A-AC6A-8C86B07403F5}" type="pres">
      <dgm:prSet presAssocID="{9EABAF29-1596-0C45-9BA6-D6E2D1B554EC}" presName="node" presStyleLbl="node1" presStyleIdx="5" presStyleCnt="6" custScaleX="134571">
        <dgm:presLayoutVars>
          <dgm:bulletEnabled val="1"/>
        </dgm:presLayoutVars>
      </dgm:prSet>
      <dgm:spPr/>
    </dgm:pt>
  </dgm:ptLst>
  <dgm:cxnLst>
    <dgm:cxn modelId="{FB981A03-439A-5C4E-ADA2-6F7E5557425B}" type="presOf" srcId="{85BB3533-6ED9-B941-8E1B-B01D97593B8F}" destId="{268264E7-E482-D84E-92A0-F61DA88E708C}" srcOrd="0" destOrd="0" presId="urn:microsoft.com/office/officeart/2005/8/layout/process1"/>
    <dgm:cxn modelId="{BD43C306-9A29-D447-A130-DCEF26033805}" srcId="{0F00994D-4302-4D4E-ABE2-F8A64C3937CE}" destId="{241C9FE6-564F-3942-8519-384CF7187D49}" srcOrd="0" destOrd="0" parTransId="{42172117-5021-934E-8372-AF838483424A}" sibTransId="{0BC67F1D-9EA0-F44C-A778-F48D84297D1A}"/>
    <dgm:cxn modelId="{7DC7220F-970A-5741-BA4E-6C168B1D14AB}" srcId="{0F00994D-4302-4D4E-ABE2-F8A64C3937CE}" destId="{9EABAF29-1596-0C45-9BA6-D6E2D1B554EC}" srcOrd="5" destOrd="0" parTransId="{469B779D-355E-574C-B308-2B689830C66E}" sibTransId="{FECE6F66-0623-A54C-AA74-15A4BD70DE3C}"/>
    <dgm:cxn modelId="{287A8622-872E-5948-8A90-F6E15122BF87}" type="presOf" srcId="{0F00994D-4302-4D4E-ABE2-F8A64C3937CE}" destId="{D3D5BE7A-22F9-F842-8FF6-CF481B263499}" srcOrd="0" destOrd="0" presId="urn:microsoft.com/office/officeart/2005/8/layout/process1"/>
    <dgm:cxn modelId="{A4E59F23-3BB8-C34D-9238-2432813CA74E}" type="presOf" srcId="{79974519-4BA1-E048-B5F0-43477E140032}" destId="{0033FC61-7392-7048-9698-04728B072225}" srcOrd="0" destOrd="0" presId="urn:microsoft.com/office/officeart/2005/8/layout/process1"/>
    <dgm:cxn modelId="{36FEF035-821F-4A46-8D3C-59E09D52739D}" type="presOf" srcId="{0BC67F1D-9EA0-F44C-A778-F48D84297D1A}" destId="{07F51653-CB36-BD4C-8021-75E73E09068C}" srcOrd="0" destOrd="0" presId="urn:microsoft.com/office/officeart/2005/8/layout/process1"/>
    <dgm:cxn modelId="{B6716B61-9E01-0247-B2F8-3698F62C65D3}" type="presOf" srcId="{82B8DC67-F2C5-1143-B1D1-B80F4D3FFDBA}" destId="{3E615D44-9747-7D48-A1ED-56011F2634D2}" srcOrd="0" destOrd="0" presId="urn:microsoft.com/office/officeart/2005/8/layout/process1"/>
    <dgm:cxn modelId="{DAAA5F64-8C95-F949-A7CA-77C6E1BEABD0}" type="presOf" srcId="{241C9FE6-564F-3942-8519-384CF7187D49}" destId="{DB02FAE8-43E6-724B-9259-CF4DB4C32FC0}" srcOrd="0" destOrd="0" presId="urn:microsoft.com/office/officeart/2005/8/layout/process1"/>
    <dgm:cxn modelId="{E51F6270-7DC7-E343-9EC8-E4491F480493}" srcId="{0F00994D-4302-4D4E-ABE2-F8A64C3937CE}" destId="{82B8DC67-F2C5-1143-B1D1-B80F4D3FFDBA}" srcOrd="4" destOrd="0" parTransId="{766376E6-3F33-CE49-9211-C06C56DA7977}" sibTransId="{D4711626-5E0D-234A-AE42-03828898529A}"/>
    <dgm:cxn modelId="{85242D78-FEC9-C44B-BC29-A1F35E920A8E}" type="presOf" srcId="{8D597BEB-AB36-FD49-9490-9668947C4AB9}" destId="{48C28B87-B340-EE4F-BDFE-EB9A5FFCB513}" srcOrd="0" destOrd="0" presId="urn:microsoft.com/office/officeart/2005/8/layout/process1"/>
    <dgm:cxn modelId="{76C8187E-9A89-FF49-9C97-F072E7DB6440}" srcId="{0F00994D-4302-4D4E-ABE2-F8A64C3937CE}" destId="{85BB3533-6ED9-B941-8E1B-B01D97593B8F}" srcOrd="1" destOrd="0" parTransId="{0B323175-E639-CF48-9D06-150C96609C5A}" sibTransId="{8D597BEB-AB36-FD49-9490-9668947C4AB9}"/>
    <dgm:cxn modelId="{3231CB7E-745D-DD4A-8ED1-109D923F83E9}" type="presOf" srcId="{E8819318-CB88-0641-BD23-CEAE1927EAB8}" destId="{00CF6F94-CEE9-1946-9714-50FCA73B4697}" srcOrd="0" destOrd="0" presId="urn:microsoft.com/office/officeart/2005/8/layout/process1"/>
    <dgm:cxn modelId="{2A123A89-2786-D04A-B27D-21A438D7F00A}" type="presOf" srcId="{D4711626-5E0D-234A-AE42-03828898529A}" destId="{3BF8A704-C7A6-C747-8DF8-E555D847FE44}" srcOrd="0" destOrd="0" presId="urn:microsoft.com/office/officeart/2005/8/layout/process1"/>
    <dgm:cxn modelId="{5A262EA6-A2C0-2D4B-8356-81C3A3F3DC2C}" srcId="{0F00994D-4302-4D4E-ABE2-F8A64C3937CE}" destId="{E8819318-CB88-0641-BD23-CEAE1927EAB8}" srcOrd="3" destOrd="0" parTransId="{63974EE1-E132-E945-9C7B-35CCE8C1931B}" sibTransId="{79974519-4BA1-E048-B5F0-43477E140032}"/>
    <dgm:cxn modelId="{C42D23A8-2BF2-C642-AC9B-B15AE2F8A068}" type="presOf" srcId="{E155C3AA-76E9-A64D-A744-7411D529A27C}" destId="{ADDD10ED-4755-C243-A1C6-08BB192A8100}" srcOrd="0" destOrd="0" presId="urn:microsoft.com/office/officeart/2005/8/layout/process1"/>
    <dgm:cxn modelId="{C0D7E5AF-A6F7-1A41-821B-8110F0446DB7}" srcId="{0F00994D-4302-4D4E-ABE2-F8A64C3937CE}" destId="{E155C3AA-76E9-A64D-A744-7411D529A27C}" srcOrd="2" destOrd="0" parTransId="{C709DAF3-6A10-494F-83F5-6B1790C9521A}" sibTransId="{8464685A-7125-BF49-8EF1-67187A902FA0}"/>
    <dgm:cxn modelId="{B96D7EB4-3991-444B-B650-2738087A8CF6}" type="presOf" srcId="{8464685A-7125-BF49-8EF1-67187A902FA0}" destId="{1589C212-7EA9-8D46-A2B8-3CD0659FF975}" srcOrd="0" destOrd="0" presId="urn:microsoft.com/office/officeart/2005/8/layout/process1"/>
    <dgm:cxn modelId="{266DCCB6-D848-AF4A-8EFA-59143BA95665}" type="presOf" srcId="{D4711626-5E0D-234A-AE42-03828898529A}" destId="{DB58FE24-385D-5D46-B206-0A275B271AD4}" srcOrd="1" destOrd="0" presId="urn:microsoft.com/office/officeart/2005/8/layout/process1"/>
    <dgm:cxn modelId="{81AE15D7-727B-4449-9425-376F5229CBF1}" type="presOf" srcId="{79974519-4BA1-E048-B5F0-43477E140032}" destId="{6433A1EB-DF89-4846-8089-557320555111}" srcOrd="1" destOrd="0" presId="urn:microsoft.com/office/officeart/2005/8/layout/process1"/>
    <dgm:cxn modelId="{6BFF16D9-29BD-7142-A9CC-BE2796A5F3B0}" type="presOf" srcId="{8D597BEB-AB36-FD49-9490-9668947C4AB9}" destId="{F66FB34B-23AC-D749-8288-23D6C8079BB2}" srcOrd="1" destOrd="0" presId="urn:microsoft.com/office/officeart/2005/8/layout/process1"/>
    <dgm:cxn modelId="{D0A338DE-9322-0645-A130-99E2B76B78D7}" type="presOf" srcId="{0BC67F1D-9EA0-F44C-A778-F48D84297D1A}" destId="{09F3BCF6-9022-E84B-9C57-1FF84B48D23C}" srcOrd="1" destOrd="0" presId="urn:microsoft.com/office/officeart/2005/8/layout/process1"/>
    <dgm:cxn modelId="{B2C05BE0-AF0B-234B-A6B8-05DAAD26285D}" type="presOf" srcId="{8464685A-7125-BF49-8EF1-67187A902FA0}" destId="{ABDAA4BF-E9B5-8F46-8558-A805D8BA155E}" srcOrd="1" destOrd="0" presId="urn:microsoft.com/office/officeart/2005/8/layout/process1"/>
    <dgm:cxn modelId="{A4416CE4-6034-B04B-9D9F-89D63717DB81}" type="presOf" srcId="{9EABAF29-1596-0C45-9BA6-D6E2D1B554EC}" destId="{62499126-221A-CF4A-AC6A-8C86B07403F5}" srcOrd="0" destOrd="0" presId="urn:microsoft.com/office/officeart/2005/8/layout/process1"/>
    <dgm:cxn modelId="{F87DFC77-15DC-D049-A4B6-C4BED7F50DFB}" type="presParOf" srcId="{D3D5BE7A-22F9-F842-8FF6-CF481B263499}" destId="{DB02FAE8-43E6-724B-9259-CF4DB4C32FC0}" srcOrd="0" destOrd="0" presId="urn:microsoft.com/office/officeart/2005/8/layout/process1"/>
    <dgm:cxn modelId="{50DE6C5D-AA8B-D44D-B0FB-52600732F12B}" type="presParOf" srcId="{D3D5BE7A-22F9-F842-8FF6-CF481B263499}" destId="{07F51653-CB36-BD4C-8021-75E73E09068C}" srcOrd="1" destOrd="0" presId="urn:microsoft.com/office/officeart/2005/8/layout/process1"/>
    <dgm:cxn modelId="{F3E584C6-8D7D-D94D-B94F-A86A1F759436}" type="presParOf" srcId="{07F51653-CB36-BD4C-8021-75E73E09068C}" destId="{09F3BCF6-9022-E84B-9C57-1FF84B48D23C}" srcOrd="0" destOrd="0" presId="urn:microsoft.com/office/officeart/2005/8/layout/process1"/>
    <dgm:cxn modelId="{5CB6C2C9-EBAF-9E40-AE6C-8883FE611289}" type="presParOf" srcId="{D3D5BE7A-22F9-F842-8FF6-CF481B263499}" destId="{268264E7-E482-D84E-92A0-F61DA88E708C}" srcOrd="2" destOrd="0" presId="urn:microsoft.com/office/officeart/2005/8/layout/process1"/>
    <dgm:cxn modelId="{FC5BC20E-2BC4-224F-8726-7CE74E0E1722}" type="presParOf" srcId="{D3D5BE7A-22F9-F842-8FF6-CF481B263499}" destId="{48C28B87-B340-EE4F-BDFE-EB9A5FFCB513}" srcOrd="3" destOrd="0" presId="urn:microsoft.com/office/officeart/2005/8/layout/process1"/>
    <dgm:cxn modelId="{490E5558-C10C-E84F-8E27-227A23628339}" type="presParOf" srcId="{48C28B87-B340-EE4F-BDFE-EB9A5FFCB513}" destId="{F66FB34B-23AC-D749-8288-23D6C8079BB2}" srcOrd="0" destOrd="0" presId="urn:microsoft.com/office/officeart/2005/8/layout/process1"/>
    <dgm:cxn modelId="{5672F837-9F32-4E44-8946-F842ABD1C172}" type="presParOf" srcId="{D3D5BE7A-22F9-F842-8FF6-CF481B263499}" destId="{ADDD10ED-4755-C243-A1C6-08BB192A8100}" srcOrd="4" destOrd="0" presId="urn:microsoft.com/office/officeart/2005/8/layout/process1"/>
    <dgm:cxn modelId="{ADE743D5-CFA0-7240-A398-47DDF4C5CD47}" type="presParOf" srcId="{D3D5BE7A-22F9-F842-8FF6-CF481B263499}" destId="{1589C212-7EA9-8D46-A2B8-3CD0659FF975}" srcOrd="5" destOrd="0" presId="urn:microsoft.com/office/officeart/2005/8/layout/process1"/>
    <dgm:cxn modelId="{209A8417-1215-A144-939E-EC4B481BD936}" type="presParOf" srcId="{1589C212-7EA9-8D46-A2B8-3CD0659FF975}" destId="{ABDAA4BF-E9B5-8F46-8558-A805D8BA155E}" srcOrd="0" destOrd="0" presId="urn:microsoft.com/office/officeart/2005/8/layout/process1"/>
    <dgm:cxn modelId="{6F84A4B7-21F3-5949-96BC-7AA850007855}" type="presParOf" srcId="{D3D5BE7A-22F9-F842-8FF6-CF481B263499}" destId="{00CF6F94-CEE9-1946-9714-50FCA73B4697}" srcOrd="6" destOrd="0" presId="urn:microsoft.com/office/officeart/2005/8/layout/process1"/>
    <dgm:cxn modelId="{42A633C3-8761-1D43-A393-16977396291D}" type="presParOf" srcId="{D3D5BE7A-22F9-F842-8FF6-CF481B263499}" destId="{0033FC61-7392-7048-9698-04728B072225}" srcOrd="7" destOrd="0" presId="urn:microsoft.com/office/officeart/2005/8/layout/process1"/>
    <dgm:cxn modelId="{08003AC7-7A99-AC48-8BE7-5614C2C607F3}" type="presParOf" srcId="{0033FC61-7392-7048-9698-04728B072225}" destId="{6433A1EB-DF89-4846-8089-557320555111}" srcOrd="0" destOrd="0" presId="urn:microsoft.com/office/officeart/2005/8/layout/process1"/>
    <dgm:cxn modelId="{F43408CA-EEDC-584C-B327-B297D17A6150}" type="presParOf" srcId="{D3D5BE7A-22F9-F842-8FF6-CF481B263499}" destId="{3E615D44-9747-7D48-A1ED-56011F2634D2}" srcOrd="8" destOrd="0" presId="urn:microsoft.com/office/officeart/2005/8/layout/process1"/>
    <dgm:cxn modelId="{1B841759-2A65-354A-9AD0-8A827B2A7547}" type="presParOf" srcId="{D3D5BE7A-22F9-F842-8FF6-CF481B263499}" destId="{3BF8A704-C7A6-C747-8DF8-E555D847FE44}" srcOrd="9" destOrd="0" presId="urn:microsoft.com/office/officeart/2005/8/layout/process1"/>
    <dgm:cxn modelId="{893B2224-5B85-4A4B-B79C-6F7AE9449325}" type="presParOf" srcId="{3BF8A704-C7A6-C747-8DF8-E555D847FE44}" destId="{DB58FE24-385D-5D46-B206-0A275B271AD4}" srcOrd="0" destOrd="0" presId="urn:microsoft.com/office/officeart/2005/8/layout/process1"/>
    <dgm:cxn modelId="{E347093F-B8DC-9F4F-9C08-180D0A68BCD5}" type="presParOf" srcId="{D3D5BE7A-22F9-F842-8FF6-CF481B263499}" destId="{62499126-221A-CF4A-AC6A-8C86B07403F5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02FAE8-43E6-724B-9259-CF4DB4C32FC0}">
      <dsp:nvSpPr>
        <dsp:cNvPr id="0" name=""/>
        <dsp:cNvSpPr/>
      </dsp:nvSpPr>
      <dsp:spPr>
        <a:xfrm>
          <a:off x="0" y="311441"/>
          <a:ext cx="1044885" cy="970396"/>
        </a:xfrm>
        <a:prstGeom prst="roundRect">
          <a:avLst>
            <a:gd name="adj" fmla="val 10000"/>
          </a:avLst>
        </a:prstGeom>
        <a:solidFill>
          <a:schemeClr val="bg2"/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n>
                <a:noFill/>
              </a:ln>
              <a:solidFill>
                <a:schemeClr val="tx1"/>
              </a:solidFill>
            </a:rPr>
            <a:t>Raw Address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1" kern="1200" dirty="0">
              <a:ln>
                <a:noFill/>
              </a:ln>
              <a:solidFill>
                <a:schemeClr val="tx1"/>
              </a:solidFill>
            </a:rPr>
            <a:t>Unverified</a:t>
          </a:r>
        </a:p>
      </dsp:txBody>
      <dsp:txXfrm>
        <a:off x="28422" y="339863"/>
        <a:ext cx="988041" cy="913552"/>
      </dsp:txXfrm>
    </dsp:sp>
    <dsp:sp modelId="{07F51653-CB36-BD4C-8021-75E73E09068C}">
      <dsp:nvSpPr>
        <dsp:cNvPr id="0" name=""/>
        <dsp:cNvSpPr/>
      </dsp:nvSpPr>
      <dsp:spPr>
        <a:xfrm rot="11844">
          <a:off x="1149825" y="669618"/>
          <a:ext cx="222475" cy="2591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149825" y="721329"/>
        <a:ext cx="155733" cy="155479"/>
      </dsp:txXfrm>
    </dsp:sp>
    <dsp:sp modelId="{268264E7-E482-D84E-92A0-F61DA88E708C}">
      <dsp:nvSpPr>
        <dsp:cNvPr id="0" name=""/>
        <dsp:cNvSpPr/>
      </dsp:nvSpPr>
      <dsp:spPr>
        <a:xfrm>
          <a:off x="1464647" y="316487"/>
          <a:ext cx="1044885" cy="970396"/>
        </a:xfrm>
        <a:prstGeom prst="roundRect">
          <a:avLst>
            <a:gd name="adj" fmla="val 10000"/>
          </a:avLst>
        </a:prstGeom>
        <a:solidFill>
          <a:schemeClr val="tx2">
            <a:lumMod val="90000"/>
            <a:lumOff val="10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Verify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/>
            <a:t>Standardize</a:t>
          </a:r>
        </a:p>
      </dsp:txBody>
      <dsp:txXfrm>
        <a:off x="1493069" y="344909"/>
        <a:ext cx="988041" cy="913552"/>
      </dsp:txXfrm>
    </dsp:sp>
    <dsp:sp modelId="{48C28B87-B340-EE4F-BDFE-EB9A5FFCB513}">
      <dsp:nvSpPr>
        <dsp:cNvPr id="0" name=""/>
        <dsp:cNvSpPr/>
      </dsp:nvSpPr>
      <dsp:spPr>
        <a:xfrm>
          <a:off x="2614021" y="672120"/>
          <a:ext cx="221515" cy="2591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614021" y="723946"/>
        <a:ext cx="155061" cy="155479"/>
      </dsp:txXfrm>
    </dsp:sp>
    <dsp:sp modelId="{ADDD10ED-4755-C243-A1C6-08BB192A8100}">
      <dsp:nvSpPr>
        <dsp:cNvPr id="0" name=""/>
        <dsp:cNvSpPr/>
      </dsp:nvSpPr>
      <dsp:spPr>
        <a:xfrm>
          <a:off x="2927486" y="316487"/>
          <a:ext cx="1886017" cy="970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Geocode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/>
            <a:t>Building Level- Precisely ID</a:t>
          </a:r>
        </a:p>
      </dsp:txBody>
      <dsp:txXfrm>
        <a:off x="2955908" y="344909"/>
        <a:ext cx="1829173" cy="913552"/>
      </dsp:txXfrm>
    </dsp:sp>
    <dsp:sp modelId="{1589C212-7EA9-8D46-A2B8-3CD0659FF975}">
      <dsp:nvSpPr>
        <dsp:cNvPr id="0" name=""/>
        <dsp:cNvSpPr/>
      </dsp:nvSpPr>
      <dsp:spPr>
        <a:xfrm>
          <a:off x="4917992" y="672120"/>
          <a:ext cx="221515" cy="2591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917992" y="723946"/>
        <a:ext cx="155061" cy="155479"/>
      </dsp:txXfrm>
    </dsp:sp>
    <dsp:sp modelId="{00CF6F94-CEE9-1946-9714-50FCA73B4697}">
      <dsp:nvSpPr>
        <dsp:cNvPr id="0" name=""/>
        <dsp:cNvSpPr/>
      </dsp:nvSpPr>
      <dsp:spPr>
        <a:xfrm>
          <a:off x="5231458" y="316487"/>
          <a:ext cx="1526775" cy="970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Enrich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/>
            <a:t>Flood-Fire-Demographics</a:t>
          </a:r>
        </a:p>
      </dsp:txBody>
      <dsp:txXfrm>
        <a:off x="5259880" y="344909"/>
        <a:ext cx="1469931" cy="913552"/>
      </dsp:txXfrm>
    </dsp:sp>
    <dsp:sp modelId="{0033FC61-7392-7048-9698-04728B072225}">
      <dsp:nvSpPr>
        <dsp:cNvPr id="0" name=""/>
        <dsp:cNvSpPr/>
      </dsp:nvSpPr>
      <dsp:spPr>
        <a:xfrm>
          <a:off x="6862722" y="672120"/>
          <a:ext cx="221515" cy="2591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862722" y="723946"/>
        <a:ext cx="155061" cy="155479"/>
      </dsp:txXfrm>
    </dsp:sp>
    <dsp:sp modelId="{3E615D44-9747-7D48-A1ED-56011F2634D2}">
      <dsp:nvSpPr>
        <dsp:cNvPr id="0" name=""/>
        <dsp:cNvSpPr/>
      </dsp:nvSpPr>
      <dsp:spPr>
        <a:xfrm>
          <a:off x="7176188" y="316487"/>
          <a:ext cx="1513536" cy="97039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AI Assess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1" kern="1200" dirty="0"/>
            <a:t>LLM Narrative – Risk Score</a:t>
          </a:r>
        </a:p>
      </dsp:txBody>
      <dsp:txXfrm>
        <a:off x="7204610" y="344909"/>
        <a:ext cx="1456692" cy="913552"/>
      </dsp:txXfrm>
    </dsp:sp>
    <dsp:sp modelId="{3BF8A704-C7A6-C747-8DF8-E555D847FE44}">
      <dsp:nvSpPr>
        <dsp:cNvPr id="0" name=""/>
        <dsp:cNvSpPr/>
      </dsp:nvSpPr>
      <dsp:spPr>
        <a:xfrm>
          <a:off x="8794213" y="672120"/>
          <a:ext cx="221515" cy="2591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8794213" y="723946"/>
        <a:ext cx="155061" cy="155479"/>
      </dsp:txXfrm>
    </dsp:sp>
    <dsp:sp modelId="{62499126-221A-CF4A-AC6A-8C86B07403F5}">
      <dsp:nvSpPr>
        <dsp:cNvPr id="0" name=""/>
        <dsp:cNvSpPr/>
      </dsp:nvSpPr>
      <dsp:spPr>
        <a:xfrm>
          <a:off x="9107678" y="316487"/>
          <a:ext cx="1406112" cy="970396"/>
        </a:xfrm>
        <a:prstGeom prst="roundRect">
          <a:avLst>
            <a:gd name="adj" fmla="val 10000"/>
          </a:avLst>
        </a:prstGeom>
        <a:solidFill>
          <a:schemeClr val="accent6">
            <a:lumMod val="75000"/>
          </a:schemeClr>
        </a:soli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Decision-Ready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i="1" kern="1200" dirty="0"/>
            <a:t>Trusted - Actionable</a:t>
          </a:r>
        </a:p>
      </dsp:txBody>
      <dsp:txXfrm>
        <a:off x="9136100" y="344909"/>
        <a:ext cx="1349268" cy="913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95DB2-70F9-C022-141F-19269B82D2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E4D4EA-07C8-57A4-9BAB-132F25D5C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85CE5-1F6A-79A2-661F-9B4A6ACF4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DBBAA-2946-067A-47AD-76E440ED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7ED66-9953-AA9F-DCC6-32AFDC77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36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F327D-B705-9355-5D3B-C444E2141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D639-036B-C29A-F088-BA010A2A4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CCEFB-CAC3-D757-8F17-3B4C385E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8F809-FDDF-7B46-4EC6-A204FD462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4D87C-0D66-DE83-0500-C971944B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55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50EF9-2283-2D7B-772C-C53F2F606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E8336-415C-02B1-589E-8C01729E3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F3BDC-933A-BFFA-87EC-FAD708AEB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49FFA-E61F-1E5F-5B0E-AE06BBF9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72BFD-7B07-97F9-4466-543257C5E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077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C7DBD-D438-9E2B-40FB-9D8AB8532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DED95-36C2-8CDE-0136-BEF074294E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07465-F2D6-06CB-27CD-A186C55C7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ADB57-CD51-B3E9-3DD2-2A9D8F88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D7C834-0F6C-AAE1-4FF6-CB03875F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619518-3C99-B1F5-F8C4-6F8F3FCD7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8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466DD-E11E-082A-897A-4FFCFF9C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F95EA-A26A-3F6A-2168-22B4F629B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CA7C8-1A7C-8C32-B65D-6D3E2ACD0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3AC84-B64A-3FF8-C343-32591DC2AA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0F87F6-F49D-46F0-F925-0B02F6D4D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303D05-87C3-1316-7EAD-9C073AC0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69C75-EBF5-2A10-2F5E-EC4AF3A2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6C15FE-18E5-33E9-7A21-E4F6527D5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2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31B7D-F80C-31B9-B1C4-646F437FB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52FA0E-4B88-7D16-45F9-588401096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60314F-4CFD-77F1-B22E-8FBA8210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8D930-AA7A-F2C3-0AE8-0FB3B056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2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0C731-D79C-A44D-C074-0E894421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A7EC8E-F669-855E-6376-EBB83884A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9F54-C77D-AB11-61B8-BE69B50BF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6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D9EA6-D061-A0F1-FA45-D9FE6142D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14381-1E2D-740A-B082-CC741CCD2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9E4D52-0861-BA35-4CBD-F35B530C9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7A114-F479-A8AB-E6DE-42B779AEE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19F6A-10A9-FB08-4404-9E3B2DD8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20D48B-AD95-785E-C45E-6005672B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49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03B4B-3B66-33E2-2AC8-C4E6A5153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5347E-9490-505A-A714-943D71237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720C2-666C-197F-66F0-27E885F7C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80AB14-8854-9D51-D330-33AA65428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714A9-9F8D-E8DF-2621-3FD04646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17850C-0192-5D60-E0DE-03487A0E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1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D2DC1-213B-DC0A-1EB5-37BC3BD92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9A04A7-148D-D1AB-2CA0-A67F4DD90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EAB39-B298-A586-A22E-3FEFE86D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3550C-FDF8-A8AA-FA89-AE4A25A9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50740-6A7C-2134-D110-1D4058DCB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97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A4E84A-D8EB-2708-EE26-A5EA2D8046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917B6-0F5D-20E5-F0B8-F0E72BD37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ED9BF-1AD8-29F8-0707-1F1EE0D66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73929-9A94-A277-8389-9CACF68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C76FC-38AC-9B9F-6534-16E59BB2B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68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D824C8-8658-682E-FC72-4FFE0691D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E2152-FC54-9AAE-CE91-FE5DBBBF8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C9160-D40A-99DA-6C1F-55C4DCE94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A1C72-6D7D-8444-AE08-34203D582B78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A7DC6-C3E7-83E9-D0EC-86A8AC0DE5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212C-ED6B-7CFE-FEB7-A9717C45C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C37D52-E65C-5144-87B5-5D8F89216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921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E3EAAECE-F3F1-3BEB-BB05-0D932BC7F0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573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D97C4D-5235-13C2-59D1-1AF7B6EF5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0062"/>
            <a:ext cx="9144000" cy="1976438"/>
          </a:xfrm>
        </p:spPr>
        <p:txBody>
          <a:bodyPr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Address Intelligence Prototype</a:t>
            </a:r>
            <a:br>
              <a:rPr lang="en-US" sz="56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Powered by Precisely API</a:t>
            </a:r>
            <a:endParaRPr lang="en-US" sz="56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7F5E7-903B-0962-EEEB-1C4418D7E9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6980" y="6426201"/>
            <a:ext cx="4445000" cy="431799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Author: Senthil Panchatcharam</a:t>
            </a:r>
          </a:p>
        </p:txBody>
      </p:sp>
    </p:spTree>
    <p:extLst>
      <p:ext uri="{BB962C8B-B14F-4D97-AF65-F5344CB8AC3E}">
        <p14:creationId xmlns:p14="http://schemas.microsoft.com/office/powerpoint/2010/main" val="3631023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2" name="Rectangle 36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B769B-C929-93BE-15F6-A2E0BE6A7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0" y="809898"/>
            <a:ext cx="10503935" cy="1554480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Your Address Data Is Quietly Costing You</a:t>
            </a:r>
            <a:br>
              <a:rPr lang="en-US" b="1" dirty="0"/>
            </a:br>
            <a:r>
              <a:rPr lang="en-US" sz="2200" dirty="0"/>
              <a:t>A mid-sized carrier with 300,000+ policyholders. Industry research indicates that only 24% of insurance data leaders are highly confident in their data accuracy (Corium Intelligence, 2024).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D1124-EABB-3A8B-1D89-300146D35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5" y="2704014"/>
            <a:ext cx="10308772" cy="3649480"/>
          </a:xfrm>
        </p:spPr>
        <p:txBody>
          <a:bodyPr anchor="ctr">
            <a:normAutofit fontScale="92500" lnSpcReduction="20000"/>
          </a:bodyPr>
          <a:lstStyle/>
          <a:p>
            <a:r>
              <a:rPr lang="en-US" sz="2400" b="1" dirty="0"/>
              <a:t>AI underwriting blocked at the foundation</a:t>
            </a:r>
          </a:p>
          <a:p>
            <a:pPr marL="457200" lvl="1" indent="0">
              <a:buNone/>
            </a:pPr>
            <a:r>
              <a:rPr lang="en-US" sz="2000" b="0" dirty="0">
                <a:solidFill>
                  <a:srgbClr val="AAAAAA"/>
                </a:solidFill>
              </a:rPr>
              <a:t>Every model you plan to build is only as good as the location truth underneath it. Bad addresses poison tomorrow's models.</a:t>
            </a:r>
            <a:endParaRPr lang="en-US" sz="2000" b="1" dirty="0"/>
          </a:p>
          <a:p>
            <a:r>
              <a:rPr lang="en-US" sz="2400" b="1" dirty="0"/>
              <a:t>Premiums priced against fiction</a:t>
            </a:r>
          </a:p>
          <a:p>
            <a:pPr marL="457200" lvl="1" indent="0">
              <a:buNone/>
            </a:pPr>
            <a:r>
              <a:rPr lang="en-US" sz="2000" b="0" dirty="0">
                <a:solidFill>
                  <a:srgbClr val="AAAAAA"/>
                </a:solidFill>
              </a:rPr>
              <a:t>Typos and ZIP mismatches place properties in the wrong risk zone. The carrier absorbs the exposure the policyholder didn't earn.</a:t>
            </a:r>
            <a:endParaRPr lang="en-US" sz="2000" b="1" dirty="0"/>
          </a:p>
          <a:p>
            <a:r>
              <a:rPr lang="en-US" sz="2400" b="1" dirty="0"/>
              <a:t>Claims routed to the wrong territory</a:t>
            </a:r>
          </a:p>
          <a:p>
            <a:pPr marL="457200" lvl="1" indent="0">
              <a:buNone/>
            </a:pPr>
            <a:r>
              <a:rPr lang="en-US" sz="2000" b="0" dirty="0">
                <a:solidFill>
                  <a:srgbClr val="AAAAAA"/>
                </a:solidFill>
              </a:rPr>
              <a:t>A bad address sends an adjuster to the wrong county. The policyholder waits. The carrier pays twice.</a:t>
            </a:r>
            <a:endParaRPr lang="en-US" sz="2000" b="1" dirty="0"/>
          </a:p>
          <a:p>
            <a:r>
              <a:rPr lang="en-US" sz="2400" b="1" dirty="0"/>
              <a:t>Compliance exposure from unverifiable locations</a:t>
            </a:r>
          </a:p>
          <a:p>
            <a:pPr marL="457200" lvl="1" indent="0">
              <a:buNone/>
            </a:pPr>
            <a:r>
              <a:rPr lang="en-US" sz="2000" b="0" dirty="0">
                <a:solidFill>
                  <a:srgbClr val="AAAAAA"/>
                </a:solidFill>
              </a:rPr>
              <a:t>Records that cannot be tied to a physical location are a liability under  DOI requirements — invisible until an audit.</a:t>
            </a:r>
          </a:p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9A2CA94-EBC4-FAB9-1C33-9FA016CEA52B}"/>
              </a:ext>
            </a:extLst>
          </p:cNvPr>
          <p:cNvSpPr/>
          <p:nvPr/>
        </p:nvSpPr>
        <p:spPr>
          <a:xfrm>
            <a:off x="0" y="-15370"/>
            <a:ext cx="2748011" cy="45321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F87842-03B3-134F-435F-8B1526938971}"/>
              </a:ext>
            </a:extLst>
          </p:cNvPr>
          <p:cNvSpPr txBox="1"/>
          <p:nvPr/>
        </p:nvSpPr>
        <p:spPr>
          <a:xfrm>
            <a:off x="4199709" y="6095401"/>
            <a:ext cx="7154092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The 22% bad data rate used in prototype is illustrative — actual rates vary by carrier, system age, and data entry controls.</a:t>
            </a:r>
          </a:p>
        </p:txBody>
      </p:sp>
    </p:spTree>
    <p:extLst>
      <p:ext uri="{BB962C8B-B14F-4D97-AF65-F5344CB8AC3E}">
        <p14:creationId xmlns:p14="http://schemas.microsoft.com/office/powerpoint/2010/main" val="1560024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22208-5FBD-1F69-D8B9-5DD0FD18F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2" name="Rectangle 361">
            <a:extLst>
              <a:ext uri="{FF2B5EF4-FFF2-40B4-BE49-F238E27FC236}">
                <a16:creationId xmlns:a16="http://schemas.microsoft.com/office/drawing/2014/main" id="{506E95D6-C183-F3A4-F95E-5F24F2B79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8ED5A5CF-AFFE-D90D-0A8E-F76F6B87A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5A38ABD-E1FB-2419-76C6-53EDF1AE5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975F56DB-FD2B-F2A9-CFD4-B30D9BA8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A81D9FD3-447C-B3D3-AD99-E2563A897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6998D52-BF2B-797B-4571-80FE5CB1B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02647-CE53-A00F-96F3-5E8EC7E38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310170" cy="1554480"/>
          </a:xfrm>
        </p:spPr>
        <p:txBody>
          <a:bodyPr anchor="ctr">
            <a:normAutofit/>
          </a:bodyPr>
          <a:lstStyle/>
          <a:p>
            <a:r>
              <a:rPr lang="en-US" b="1" dirty="0">
                <a:solidFill>
                  <a:srgbClr val="0D1B2A"/>
                </a:solidFill>
              </a:rPr>
              <a:t>Precisely Turns Address Data Into Decision Intelligence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452F9D1-EAA4-8AAC-5F53-7367A8316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1DD81A4-BE66-EB10-F85B-F83A87A4D972}"/>
              </a:ext>
            </a:extLst>
          </p:cNvPr>
          <p:cNvSpPr/>
          <p:nvPr/>
        </p:nvSpPr>
        <p:spPr>
          <a:xfrm>
            <a:off x="0" y="-15370"/>
            <a:ext cx="2748011" cy="4532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THE SOLUTION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ADFD85-204B-F37D-F8ED-5B7912B045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5775214"/>
              </p:ext>
            </p:extLst>
          </p:nvPr>
        </p:nvGraphicFramePr>
        <p:xfrm>
          <a:off x="940916" y="2845920"/>
          <a:ext cx="10515600" cy="16033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79025202-301D-E9C0-A752-E92A6F105E3A}"/>
              </a:ext>
            </a:extLst>
          </p:cNvPr>
          <p:cNvGrpSpPr/>
          <p:nvPr/>
        </p:nvGrpSpPr>
        <p:grpSpPr>
          <a:xfrm>
            <a:off x="1043630" y="4424844"/>
            <a:ext cx="3477570" cy="2229945"/>
            <a:chOff x="1043631" y="4449292"/>
            <a:chExt cx="2588569" cy="178640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6F7CEA-5D22-FC66-0084-FAACECD6747D}"/>
                </a:ext>
              </a:extLst>
            </p:cNvPr>
            <p:cNvSpPr/>
            <p:nvPr/>
          </p:nvSpPr>
          <p:spPr>
            <a:xfrm>
              <a:off x="1043631" y="4987882"/>
              <a:ext cx="2588569" cy="1247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555555"/>
                  </a:solidFill>
                </a:rPr>
                <a:t>of dirty records caught and corrected — street typos, ZIP mismatches, flood zone misplacements fixed automatically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6D3E7D-79F5-4228-3BF7-79925461A4BD}"/>
                </a:ext>
              </a:extLst>
            </p:cNvPr>
            <p:cNvSpPr txBox="1"/>
            <p:nvPr/>
          </p:nvSpPr>
          <p:spPr>
            <a:xfrm>
              <a:off x="1043631" y="4464661"/>
              <a:ext cx="25885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800" b="1" dirty="0">
                  <a:solidFill>
                    <a:srgbClr val="4DA72E"/>
                  </a:solidFill>
                </a:rPr>
                <a:t>78%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CC47F8B-AAE5-991A-2C8C-B41CF1EF4EFD}"/>
                </a:ext>
              </a:extLst>
            </p:cNvPr>
            <p:cNvCxnSpPr/>
            <p:nvPr/>
          </p:nvCxnSpPr>
          <p:spPr>
            <a:xfrm>
              <a:off x="1043631" y="4449292"/>
              <a:ext cx="2588569" cy="0"/>
            </a:xfrm>
            <a:prstGeom prst="line">
              <a:avLst/>
            </a:prstGeom>
            <a:ln w="63500"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B760A71-6479-5DDF-57ED-A4DEC6ABE62D}"/>
              </a:ext>
            </a:extLst>
          </p:cNvPr>
          <p:cNvGrpSpPr/>
          <p:nvPr/>
        </p:nvGrpSpPr>
        <p:grpSpPr>
          <a:xfrm>
            <a:off x="5031432" y="4424845"/>
            <a:ext cx="2601269" cy="1786408"/>
            <a:chOff x="4117031" y="4449292"/>
            <a:chExt cx="2601269" cy="1786408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B887BE6-58A9-D1C1-B1C8-53CE9E4368C8}"/>
                </a:ext>
              </a:extLst>
            </p:cNvPr>
            <p:cNvSpPr/>
            <p:nvPr/>
          </p:nvSpPr>
          <p:spPr>
            <a:xfrm>
              <a:off x="4129731" y="4987882"/>
              <a:ext cx="2588569" cy="1247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0" dirty="0">
                  <a:solidFill>
                    <a:srgbClr val="555555"/>
                  </a:solidFill>
                </a:rPr>
                <a:t>geocode coverage at building-level precision — every record placed on a map, PreciselyID assigned, CAT model ready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8D52779-1CB5-41DE-D5D1-AC9DA0DEFB51}"/>
                </a:ext>
              </a:extLst>
            </p:cNvPr>
            <p:cNvSpPr txBox="1"/>
            <p:nvPr/>
          </p:nvSpPr>
          <p:spPr>
            <a:xfrm>
              <a:off x="4117031" y="4449292"/>
              <a:ext cx="25885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F4A261"/>
                  </a:solidFill>
                </a:rPr>
                <a:t>100%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3F753C0-D338-2139-D1FD-753F51B3E0D5}"/>
                </a:ext>
              </a:extLst>
            </p:cNvPr>
            <p:cNvCxnSpPr/>
            <p:nvPr/>
          </p:nvCxnSpPr>
          <p:spPr>
            <a:xfrm>
              <a:off x="4129731" y="4449292"/>
              <a:ext cx="2588569" cy="0"/>
            </a:xfrm>
            <a:prstGeom prst="line">
              <a:avLst/>
            </a:prstGeom>
            <a:ln w="63500">
              <a:solidFill>
                <a:srgbClr val="F4A3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382FBAA-3043-BD31-1F55-9210AF27599F}"/>
              </a:ext>
            </a:extLst>
          </p:cNvPr>
          <p:cNvGrpSpPr/>
          <p:nvPr/>
        </p:nvGrpSpPr>
        <p:grpSpPr>
          <a:xfrm>
            <a:off x="8559802" y="4424845"/>
            <a:ext cx="2601269" cy="1786408"/>
            <a:chOff x="8559802" y="4400398"/>
            <a:chExt cx="2601269" cy="1786408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354B27-236D-EDBA-2762-EF1C55D273E2}"/>
                </a:ext>
              </a:extLst>
            </p:cNvPr>
            <p:cNvSpPr/>
            <p:nvPr/>
          </p:nvSpPr>
          <p:spPr>
            <a:xfrm>
              <a:off x="8572502" y="4938988"/>
              <a:ext cx="2588569" cy="12478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b="0" dirty="0">
                  <a:solidFill>
                    <a:srgbClr val="555555"/>
                  </a:solidFill>
                </a:rPr>
                <a:t>from dirty address to LLM-generated underwriter narrative — flood zone, fire proximity, neighborhood all surfaced</a:t>
              </a:r>
            </a:p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C6D700E-135E-8109-71E5-45A83206F282}"/>
                </a:ext>
              </a:extLst>
            </p:cNvPr>
            <p:cNvSpPr txBox="1"/>
            <p:nvPr/>
          </p:nvSpPr>
          <p:spPr>
            <a:xfrm>
              <a:off x="8559802" y="4400398"/>
              <a:ext cx="258856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b="1" dirty="0">
                  <a:solidFill>
                    <a:srgbClr val="2A9D8F"/>
                  </a:solidFill>
                </a:rPr>
                <a:t>4 steps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675DA45-04B6-9503-7B9D-637958180645}"/>
                </a:ext>
              </a:extLst>
            </p:cNvPr>
            <p:cNvCxnSpPr/>
            <p:nvPr/>
          </p:nvCxnSpPr>
          <p:spPr>
            <a:xfrm>
              <a:off x="8572502" y="4400398"/>
              <a:ext cx="2588569" cy="0"/>
            </a:xfrm>
            <a:prstGeom prst="line">
              <a:avLst/>
            </a:prstGeom>
            <a:ln w="63500">
              <a:solidFill>
                <a:srgbClr val="289D8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94954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700880-417A-64AC-9DC9-5DE5D16F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2" name="Rectangle 361">
            <a:extLst>
              <a:ext uri="{FF2B5EF4-FFF2-40B4-BE49-F238E27FC236}">
                <a16:creationId xmlns:a16="http://schemas.microsoft.com/office/drawing/2014/main" id="{31298EC3-9820-C103-9D0C-C9247650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EC6E6BC2-F502-8CA0-7D91-33FCACC58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25ABFD8-90FF-837F-0E84-3805D4FA2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Rectangle 363">
              <a:extLst>
                <a:ext uri="{FF2B5EF4-FFF2-40B4-BE49-F238E27FC236}">
                  <a16:creationId xmlns:a16="http://schemas.microsoft.com/office/drawing/2014/main" id="{AE8835EB-D5DD-8055-EDF0-82EC7429C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Rectangle 364">
              <a:extLst>
                <a:ext uri="{FF2B5EF4-FFF2-40B4-BE49-F238E27FC236}">
                  <a16:creationId xmlns:a16="http://schemas.microsoft.com/office/drawing/2014/main" id="{717F1832-047E-177B-FD71-B8D879A95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BAC03B2-FBF8-0491-B0A3-1CD55641D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E13E87-5ABA-962E-54EE-75D05545F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613954"/>
            <a:ext cx="10907487" cy="1019445"/>
          </a:xfrm>
        </p:spPr>
        <p:txBody>
          <a:bodyPr anchor="ctr">
            <a:normAutofit fontScale="90000"/>
          </a:bodyPr>
          <a:lstStyle/>
          <a:p>
            <a:r>
              <a:rPr lang="en-US" b="1" dirty="0"/>
              <a:t>Dirty data doesn't just block today's decisions.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EDC26A-9930-3FDA-D5DB-9442C9BEE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A9BD876F-E2F1-E136-066F-C26D196EFB7C}"/>
              </a:ext>
            </a:extLst>
          </p:cNvPr>
          <p:cNvSpPr/>
          <p:nvPr/>
        </p:nvSpPr>
        <p:spPr>
          <a:xfrm>
            <a:off x="0" y="-15370"/>
            <a:ext cx="2748011" cy="453217"/>
          </a:xfrm>
          <a:prstGeom prst="rect">
            <a:avLst/>
          </a:prstGeom>
          <a:solidFill>
            <a:srgbClr val="0D9AD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THE BUSINESS CASE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96EFA63-FA2C-578F-1337-142D9468CD53}"/>
              </a:ext>
            </a:extLst>
          </p:cNvPr>
          <p:cNvSpPr txBox="1">
            <a:spLocks/>
          </p:cNvSpPr>
          <p:nvPr/>
        </p:nvSpPr>
        <p:spPr>
          <a:xfrm>
            <a:off x="5472355" y="1497251"/>
            <a:ext cx="6075211" cy="603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D9AD0"/>
                </a:solidFill>
              </a:rPr>
              <a:t>It poisons tomorrow's models.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2EEA96-51E1-4E32-0149-B01C7FD71974}"/>
              </a:ext>
            </a:extLst>
          </p:cNvPr>
          <p:cNvSpPr txBox="1"/>
          <p:nvPr/>
        </p:nvSpPr>
        <p:spPr>
          <a:xfrm>
            <a:off x="640079" y="2667000"/>
            <a:ext cx="10907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/>
                </a:solidFill>
              </a:rPr>
              <a:t>Precisely helps to make your AI underwriting investment pay off.</a:t>
            </a:r>
          </a:p>
          <a:p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DBEA89-BD53-BF74-4CB6-DC02D27997A5}"/>
              </a:ext>
            </a:extLst>
          </p:cNvPr>
          <p:cNvSpPr/>
          <p:nvPr/>
        </p:nvSpPr>
        <p:spPr>
          <a:xfrm>
            <a:off x="535670" y="3424845"/>
            <a:ext cx="2651760" cy="1463040"/>
          </a:xfrm>
          <a:prstGeom prst="rect">
            <a:avLst/>
          </a:prstGeom>
          <a:solidFill>
            <a:srgbClr val="1E3A5C"/>
          </a:solidFill>
          <a:ln>
            <a:solidFill>
              <a:srgbClr val="2A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5964F3-7E0A-63CD-6713-ED0588B46F53}"/>
              </a:ext>
            </a:extLst>
          </p:cNvPr>
          <p:cNvSpPr txBox="1"/>
          <p:nvPr/>
        </p:nvSpPr>
        <p:spPr>
          <a:xfrm>
            <a:off x="672830" y="3497997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C0EB"/>
                </a:solidFill>
              </a:rPr>
              <a:t>$7.4M–$11.1M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B6F46E-8D4E-E9BE-C08A-083CCD47E01B}"/>
              </a:ext>
            </a:extLst>
          </p:cNvPr>
          <p:cNvSpPr txBox="1"/>
          <p:nvPr/>
        </p:nvSpPr>
        <p:spPr>
          <a:xfrm>
            <a:off x="672830" y="406492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Annual premium at risk
from mispriced policies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DE3040-4733-1BC2-4F75-E52CD7FF0364}"/>
              </a:ext>
            </a:extLst>
          </p:cNvPr>
          <p:cNvSpPr/>
          <p:nvPr/>
        </p:nvSpPr>
        <p:spPr>
          <a:xfrm>
            <a:off x="3443462" y="3424845"/>
            <a:ext cx="2651760" cy="1463040"/>
          </a:xfrm>
          <a:prstGeom prst="rect">
            <a:avLst/>
          </a:prstGeom>
          <a:solidFill>
            <a:srgbClr val="1E3A5C"/>
          </a:solidFill>
          <a:ln>
            <a:solidFill>
              <a:srgbClr val="2A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66A0BA-E9F5-D201-E031-A785009D9548}"/>
              </a:ext>
            </a:extLst>
          </p:cNvPr>
          <p:cNvSpPr txBox="1"/>
          <p:nvPr/>
        </p:nvSpPr>
        <p:spPr>
          <a:xfrm>
            <a:off x="3580621" y="3497997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C0EB"/>
                </a:solidFill>
              </a:rPr>
              <a:t>$2.6M–$4.2M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5FFEBE-A79A-6BC3-BE03-41D0D1347B6E}"/>
              </a:ext>
            </a:extLst>
          </p:cNvPr>
          <p:cNvSpPr txBox="1"/>
          <p:nvPr/>
        </p:nvSpPr>
        <p:spPr>
          <a:xfrm>
            <a:off x="3580621" y="406492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Wasted adjuster cost
from misrouted claims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326D742-B468-8D93-EF7F-731EDE709291}"/>
              </a:ext>
            </a:extLst>
          </p:cNvPr>
          <p:cNvSpPr/>
          <p:nvPr/>
        </p:nvSpPr>
        <p:spPr>
          <a:xfrm>
            <a:off x="6351253" y="3424845"/>
            <a:ext cx="2651760" cy="1463040"/>
          </a:xfrm>
          <a:prstGeom prst="rect">
            <a:avLst/>
          </a:prstGeom>
          <a:solidFill>
            <a:srgbClr val="1E3A5C"/>
          </a:solidFill>
          <a:ln>
            <a:solidFill>
              <a:srgbClr val="2A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46A0F8-2238-7C70-CC6F-253866E08470}"/>
              </a:ext>
            </a:extLst>
          </p:cNvPr>
          <p:cNvSpPr txBox="1"/>
          <p:nvPr/>
        </p:nvSpPr>
        <p:spPr>
          <a:xfrm>
            <a:off x="6488413" y="3497997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C0EB"/>
                </a:solidFill>
              </a:rPr>
              <a:t>$7.2M–$21.6M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D4E493-738E-609B-1E85-BCDDF7117196}"/>
              </a:ext>
            </a:extLst>
          </p:cNvPr>
          <p:cNvSpPr txBox="1"/>
          <p:nvPr/>
        </p:nvSpPr>
        <p:spPr>
          <a:xfrm>
            <a:off x="6488413" y="406492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Potential DOI
compliance exposure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B225BE4-5ED6-FA0E-5421-D6930E73BDD2}"/>
              </a:ext>
            </a:extLst>
          </p:cNvPr>
          <p:cNvSpPr/>
          <p:nvPr/>
        </p:nvSpPr>
        <p:spPr>
          <a:xfrm>
            <a:off x="9259045" y="3424845"/>
            <a:ext cx="2651760" cy="1463040"/>
          </a:xfrm>
          <a:prstGeom prst="rect">
            <a:avLst/>
          </a:prstGeom>
          <a:solidFill>
            <a:srgbClr val="1E3A5C"/>
          </a:solidFill>
          <a:ln>
            <a:solidFill>
              <a:srgbClr val="2A4A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F27F14-E73B-C756-E09A-BAEDF7A6900A}"/>
              </a:ext>
            </a:extLst>
          </p:cNvPr>
          <p:cNvSpPr txBox="1"/>
          <p:nvPr/>
        </p:nvSpPr>
        <p:spPr>
          <a:xfrm>
            <a:off x="9396206" y="3497997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C0EB"/>
                </a:solidFill>
              </a:rPr>
              <a:t>48,000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F5FD7D8-00FF-1308-4F95-8D35E00E9FDB}"/>
              </a:ext>
            </a:extLst>
          </p:cNvPr>
          <p:cNvSpPr txBox="1"/>
          <p:nvPr/>
        </p:nvSpPr>
        <p:spPr>
          <a:xfrm>
            <a:off x="9396206" y="4064925"/>
            <a:ext cx="2377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AAAAA"/>
                </a:solidFill>
              </a:rPr>
              <a:t>Records not AI-ready
without verification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BC7CEB-8371-3762-63A9-66932FA34D6F}"/>
              </a:ext>
            </a:extLst>
          </p:cNvPr>
          <p:cNvSpPr txBox="1"/>
          <p:nvPr/>
        </p:nvSpPr>
        <p:spPr>
          <a:xfrm>
            <a:off x="672830" y="5587357"/>
            <a:ext cx="73830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/>
              <a:t>Built on Precisely Data Integrity Suite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8DE552-1650-24F0-D68A-512DE84579F6}"/>
              </a:ext>
            </a:extLst>
          </p:cNvPr>
          <p:cNvSpPr txBox="1"/>
          <p:nvPr/>
        </p:nvSpPr>
        <p:spPr>
          <a:xfrm>
            <a:off x="714992" y="6109738"/>
            <a:ext cx="685940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0D9AD0"/>
                </a:solidFill>
              </a:rPr>
              <a:t>Address Verification  ·  Geocoding  ·  Location Enrichment  ·  LLM Intelligence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22B6ACC-E46E-7631-BE55-40551633D568}"/>
              </a:ext>
            </a:extLst>
          </p:cNvPr>
          <p:cNvSpPr txBox="1"/>
          <p:nvPr/>
        </p:nvSpPr>
        <p:spPr>
          <a:xfrm>
            <a:off x="8728694" y="5689785"/>
            <a:ext cx="2992359" cy="523220"/>
          </a:xfrm>
          <a:prstGeom prst="rect">
            <a:avLst/>
          </a:prstGeom>
          <a:solidFill>
            <a:srgbClr val="0D9AD0"/>
          </a:solidFill>
          <a:effectLst>
            <a:glow rad="228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txBody>
          <a:bodyPr wrap="square">
            <a:spAutoFit/>
          </a:bodyPr>
          <a:lstStyle/>
          <a:p>
            <a:pPr algn="ctr"/>
            <a:r>
              <a:rPr sz="2800" b="1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870529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362</Words>
  <Application>Microsoft Macintosh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Address Intelligence Prototype Powered by Precisely API</vt:lpstr>
      <vt:lpstr>Your Address Data Is Quietly Costing You A mid-sized carrier with 300,000+ policyholders. Industry research indicates that only 24% of insurance data leaders are highly confident in their data accuracy (Corium Intelligence, 2024).</vt:lpstr>
      <vt:lpstr>Precisely Turns Address Data Into Decision Intelligence</vt:lpstr>
      <vt:lpstr>Dirty data doesn't just block today's decisions.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Senthil P</dc:creator>
  <cp:lastModifiedBy>Senthil P</cp:lastModifiedBy>
  <cp:revision>20</cp:revision>
  <dcterms:created xsi:type="dcterms:W3CDTF">2026-05-11T15:31:37Z</dcterms:created>
  <dcterms:modified xsi:type="dcterms:W3CDTF">2026-05-12T13:13:30Z</dcterms:modified>
</cp:coreProperties>
</file>